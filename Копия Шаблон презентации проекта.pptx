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Roboto Light"/>
      <p:regular r:id="rId28"/>
      <p:bold r:id="rId29"/>
      <p:italic r:id="rId30"/>
      <p:boldItalic r:id="rId31"/>
    </p:embeddedFont>
    <p:embeddedFont>
      <p:font typeface="Montserrat ExtraBold"/>
      <p:bold r:id="rId32"/>
      <p:boldItalic r:id="rId33"/>
    </p:embeddedFont>
    <p:embeddedFont>
      <p:font typeface="Roboto Mono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15">
          <p15:clr>
            <a:srgbClr val="9AA0A6"/>
          </p15:clr>
        </p15:guide>
        <p15:guide id="2" orient="horz" pos="110">
          <p15:clr>
            <a:srgbClr val="9AA0A6"/>
          </p15:clr>
        </p15:guide>
        <p15:guide id="3" orient="horz" pos="3130">
          <p15:clr>
            <a:srgbClr val="9AA0A6"/>
          </p15:clr>
        </p15:guide>
        <p15:guide id="4" pos="5655">
          <p15:clr>
            <a:srgbClr val="9AA0A6"/>
          </p15:clr>
        </p15:guide>
        <p15:guide id="5" pos="4704">
          <p15:clr>
            <a:srgbClr val="9AA0A6"/>
          </p15:clr>
        </p15:guide>
        <p15:guide id="6" pos="353">
          <p15:clr>
            <a:srgbClr val="9AA0A6"/>
          </p15:clr>
        </p15:guide>
        <p15:guide id="7" pos="4459">
          <p15:clr>
            <a:srgbClr val="9AA0A6"/>
          </p15:clr>
        </p15:guide>
        <p15:guide id="8" orient="horz" pos="696">
          <p15:clr>
            <a:srgbClr val="9AA0A6"/>
          </p15:clr>
        </p15:guide>
        <p15:guide id="9" orient="horz" pos="1622">
          <p15:clr>
            <a:srgbClr val="9AA0A6"/>
          </p15:clr>
        </p15:guide>
        <p15:guide id="10" orient="horz" pos="1975">
          <p15:clr>
            <a:srgbClr val="9AA0A6"/>
          </p15:clr>
        </p15:guide>
        <p15:guide id="11" orient="horz" pos="2906">
          <p15:clr>
            <a:srgbClr val="9AA0A6"/>
          </p15:clr>
        </p15:guide>
        <p15:guide id="12" pos="2098">
          <p15:clr>
            <a:srgbClr val="9AA0A6"/>
          </p15:clr>
        </p15:guide>
        <p15:guide id="13" pos="2555">
          <p15:clr>
            <a:srgbClr val="9AA0A6"/>
          </p15:clr>
        </p15:guide>
        <p15:guide id="14" pos="4311">
          <p15:clr>
            <a:srgbClr val="9AA0A6"/>
          </p15:clr>
        </p15:guide>
        <p15:guide id="15" orient="horz" pos="101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5"/>
        <p:guide pos="110" orient="horz"/>
        <p:guide pos="3130" orient="horz"/>
        <p:guide pos="5655"/>
        <p:guide pos="4704"/>
        <p:guide pos="353"/>
        <p:guide pos="4459"/>
        <p:guide pos="696" orient="horz"/>
        <p:guide pos="1622" orient="horz"/>
        <p:guide pos="1975" orient="horz"/>
        <p:guide pos="2906" orient="horz"/>
        <p:guide pos="2098"/>
        <p:guide pos="2555"/>
        <p:guide pos="4311"/>
        <p:guide pos="101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font" Target="fonts/Roboto-regular.fntdata"/><Relationship Id="rId41" Type="http://schemas.openxmlformats.org/officeDocument/2006/relationships/font" Target="fonts/OpenSans-boldItalic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RobotoLight-regular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Light-boldItalic.fntdata"/><Relationship Id="rId30" Type="http://schemas.openxmlformats.org/officeDocument/2006/relationships/font" Target="fonts/RobotoLight-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ExtraBold-bold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ExtraBold-bold.fntdata"/><Relationship Id="rId13" Type="http://schemas.openxmlformats.org/officeDocument/2006/relationships/slide" Target="slides/slide7.xml"/><Relationship Id="rId35" Type="http://schemas.openxmlformats.org/officeDocument/2006/relationships/font" Target="fonts/RobotoMono-bold.fntdata"/><Relationship Id="rId12" Type="http://schemas.openxmlformats.org/officeDocument/2006/relationships/slide" Target="slides/slide6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9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Mono-italic.fntdata"/><Relationship Id="rId17" Type="http://schemas.openxmlformats.org/officeDocument/2006/relationships/font" Target="fonts/MontserratSemiBold-bold.fntdata"/><Relationship Id="rId39" Type="http://schemas.openxmlformats.org/officeDocument/2006/relationships/font" Target="fonts/OpenSans-bold.fntdata"/><Relationship Id="rId16" Type="http://schemas.openxmlformats.org/officeDocument/2006/relationships/font" Target="fonts/MontserratSemiBold-regular.fntdata"/><Relationship Id="rId38" Type="http://schemas.openxmlformats.org/officeDocument/2006/relationships/font" Target="fonts/OpenSans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7670dd1bee_1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7670dd1be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bf206be851_0_16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bf206be85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bf206be851_0_2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bf206be85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3694f21a4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3694f21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336c44c6d_0_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336c44c6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3694f21a4_0_2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3694f21a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bf206be851_0_4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bf206be85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bf206be851_0_12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bf206be85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bf206be851_0_14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bf206be85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тка_2 1 1">
  <p:cSld name="CUSTOM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-265050" y="2167675"/>
            <a:ext cx="28500" cy="1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993">
          <p15:clr>
            <a:schemeClr val="accent4"/>
          </p15:clr>
        </p15:guide>
        <p15:guide id="2" pos="2767">
          <p15:clr>
            <a:schemeClr val="accent4"/>
          </p15:clr>
        </p15:guide>
        <p15:guide id="3" pos="2880">
          <p15:clr>
            <a:srgbClr val="6AA84F"/>
          </p15:clr>
        </p15:guide>
        <p15:guide id="4" pos="1996">
          <p15:clr>
            <a:srgbClr val="93C47D"/>
          </p15:clr>
        </p15:guide>
        <p15:guide id="5" pos="3762">
          <p15:clr>
            <a:srgbClr val="6AA84F"/>
          </p15:clr>
        </p15:guide>
        <p15:guide id="6" pos="2109">
          <p15:clr>
            <a:schemeClr val="accent4"/>
          </p15:clr>
        </p15:guide>
        <p15:guide id="7" pos="1882">
          <p15:clr>
            <a:schemeClr val="accent4"/>
          </p15:clr>
        </p15:guide>
        <p15:guide id="8" pos="3649">
          <p15:clr>
            <a:schemeClr val="accent4"/>
          </p15:clr>
        </p15:guide>
        <p15:guide id="9" pos="3876">
          <p15:clr>
            <a:schemeClr val="accent4"/>
          </p15:clr>
        </p15:guide>
        <p15:guide id="10" orient="horz" pos="426">
          <p15:clr>
            <a:srgbClr val="B7B7B7"/>
          </p15:clr>
        </p15:guide>
        <p15:guide id="11" orient="horz" pos="625">
          <p15:clr>
            <a:srgbClr val="B7B7B7"/>
          </p15:clr>
        </p15:guide>
        <p15:guide id="12" orient="horz" pos="824">
          <p15:clr>
            <a:srgbClr val="B7B7B7"/>
          </p15:clr>
        </p15:guide>
        <p15:guide id="13" orient="horz" pos="1023">
          <p15:clr>
            <a:srgbClr val="B7B7B7"/>
          </p15:clr>
        </p15:guide>
        <p15:guide id="14" orient="horz" pos="1222">
          <p15:clr>
            <a:srgbClr val="B7B7B7"/>
          </p15:clr>
        </p15:guide>
        <p15:guide id="15" orient="horz" pos="1421">
          <p15:clr>
            <a:srgbClr val="B7B7B7"/>
          </p15:clr>
        </p15:guide>
        <p15:guide id="16" orient="horz" pos="1620">
          <p15:clr>
            <a:srgbClr val="B7B7B7"/>
          </p15:clr>
        </p15:guide>
        <p15:guide id="17" orient="horz" pos="1819">
          <p15:clr>
            <a:srgbClr val="B7B7B7"/>
          </p15:clr>
        </p15:guide>
        <p15:guide id="18" orient="horz" pos="2018">
          <p15:clr>
            <a:srgbClr val="B7B7B7"/>
          </p15:clr>
        </p15:guide>
        <p15:guide id="19" orient="horz" pos="2217">
          <p15:clr>
            <a:srgbClr val="B7B7B7"/>
          </p15:clr>
        </p15:guide>
        <p15:guide id="20" orient="horz" pos="2416">
          <p15:clr>
            <a:srgbClr val="B7B7B7"/>
          </p15:clr>
        </p15:guide>
        <p15:guide id="21" orient="horz" pos="2615">
          <p15:clr>
            <a:srgbClr val="B7B7B7"/>
          </p15:clr>
        </p15:guide>
        <p15:guide id="22" orient="horz" pos="2814">
          <p15:clr>
            <a:srgbClr val="B7B7B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тка_1">
  <p:cSld name="CUSTOM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2880">
          <p15:clr>
            <a:schemeClr val="accent4"/>
          </p15:clr>
        </p15:guide>
        <p15:guide id="2" orient="horz" pos="1620">
          <p15:clr>
            <a:schemeClr val="accent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тка_2">
  <p:cSld name="CUSTOM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2993">
          <p15:clr>
            <a:schemeClr val="accent4"/>
          </p15:clr>
        </p15:guide>
        <p15:guide id="2" pos="2767">
          <p15:clr>
            <a:schemeClr val="accent4"/>
          </p15:clr>
        </p15:guide>
        <p15:guide id="3" pos="2880">
          <p15:clr>
            <a:srgbClr val="6AA84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тка_2 1">
  <p:cSld name="CUSTOM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/>
          <p:nvPr/>
        </p:nvSpPr>
        <p:spPr>
          <a:xfrm>
            <a:off x="-265050" y="2167675"/>
            <a:ext cx="28500" cy="1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993">
          <p15:clr>
            <a:schemeClr val="accent4"/>
          </p15:clr>
        </p15:guide>
        <p15:guide id="2" pos="2767">
          <p15:clr>
            <a:schemeClr val="accent4"/>
          </p15:clr>
        </p15:guide>
        <p15:guide id="3" pos="2880">
          <p15:clr>
            <a:srgbClr val="6AA84F"/>
          </p15:clr>
        </p15:guide>
        <p15:guide id="4" pos="1996">
          <p15:clr>
            <a:srgbClr val="93C47D"/>
          </p15:clr>
        </p15:guide>
        <p15:guide id="5" pos="3762">
          <p15:clr>
            <a:srgbClr val="6AA84F"/>
          </p15:clr>
        </p15:guide>
        <p15:guide id="6" pos="2109">
          <p15:clr>
            <a:schemeClr val="accent4"/>
          </p15:clr>
        </p15:guide>
        <p15:guide id="7" pos="1882">
          <p15:clr>
            <a:schemeClr val="accent4"/>
          </p15:clr>
        </p15:guide>
        <p15:guide id="8" pos="3649">
          <p15:clr>
            <a:schemeClr val="accent4"/>
          </p15:clr>
        </p15:guide>
        <p15:guide id="9" pos="3876">
          <p15:clr>
            <a:schemeClr val="accent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тка_2 1 1">
  <p:cSld name="CUSTOM_1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/>
          <p:nvPr/>
        </p:nvSpPr>
        <p:spPr>
          <a:xfrm>
            <a:off x="-265050" y="2167675"/>
            <a:ext cx="28500" cy="1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993">
          <p15:clr>
            <a:schemeClr val="accent4"/>
          </p15:clr>
        </p15:guide>
        <p15:guide id="2" pos="2767">
          <p15:clr>
            <a:schemeClr val="accent4"/>
          </p15:clr>
        </p15:guide>
        <p15:guide id="3" pos="2880">
          <p15:clr>
            <a:srgbClr val="6AA84F"/>
          </p15:clr>
        </p15:guide>
        <p15:guide id="4" pos="1996">
          <p15:clr>
            <a:srgbClr val="93C47D"/>
          </p15:clr>
        </p15:guide>
        <p15:guide id="5" pos="3762">
          <p15:clr>
            <a:srgbClr val="6AA84F"/>
          </p15:clr>
        </p15:guide>
        <p15:guide id="6" pos="2109">
          <p15:clr>
            <a:schemeClr val="accent4"/>
          </p15:clr>
        </p15:guide>
        <p15:guide id="7" pos="1882">
          <p15:clr>
            <a:schemeClr val="accent4"/>
          </p15:clr>
        </p15:guide>
        <p15:guide id="8" pos="3649">
          <p15:clr>
            <a:schemeClr val="accent4"/>
          </p15:clr>
        </p15:guide>
        <p15:guide id="9" pos="3876">
          <p15:clr>
            <a:schemeClr val="accent4"/>
          </p15:clr>
        </p15:guide>
        <p15:guide id="10" orient="horz" pos="426">
          <p15:clr>
            <a:srgbClr val="B7B7B7"/>
          </p15:clr>
        </p15:guide>
        <p15:guide id="11" orient="horz" pos="625">
          <p15:clr>
            <a:srgbClr val="B7B7B7"/>
          </p15:clr>
        </p15:guide>
        <p15:guide id="12" orient="horz" pos="824">
          <p15:clr>
            <a:srgbClr val="B7B7B7"/>
          </p15:clr>
        </p15:guide>
        <p15:guide id="13" orient="horz" pos="1023">
          <p15:clr>
            <a:srgbClr val="B7B7B7"/>
          </p15:clr>
        </p15:guide>
        <p15:guide id="14" orient="horz" pos="1222">
          <p15:clr>
            <a:srgbClr val="B7B7B7"/>
          </p15:clr>
        </p15:guide>
        <p15:guide id="15" orient="horz" pos="1421">
          <p15:clr>
            <a:srgbClr val="B7B7B7"/>
          </p15:clr>
        </p15:guide>
        <p15:guide id="16" orient="horz" pos="1620">
          <p15:clr>
            <a:srgbClr val="B7B7B7"/>
          </p15:clr>
        </p15:guide>
        <p15:guide id="17" orient="horz" pos="1819">
          <p15:clr>
            <a:srgbClr val="B7B7B7"/>
          </p15:clr>
        </p15:guide>
        <p15:guide id="18" orient="horz" pos="2018">
          <p15:clr>
            <a:srgbClr val="B7B7B7"/>
          </p15:clr>
        </p15:guide>
        <p15:guide id="19" orient="horz" pos="2217">
          <p15:clr>
            <a:srgbClr val="B7B7B7"/>
          </p15:clr>
        </p15:guide>
        <p15:guide id="20" orient="horz" pos="2416">
          <p15:clr>
            <a:srgbClr val="B7B7B7"/>
          </p15:clr>
        </p15:guide>
        <p15:guide id="21" orient="horz" pos="2615">
          <p15:clr>
            <a:srgbClr val="B7B7B7"/>
          </p15:clr>
        </p15:guide>
        <p15:guide id="22" orient="horz" pos="2814">
          <p15:clr>
            <a:srgbClr val="B7B7B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2">
  <p:cSld name="TITLE_AND_BODY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4775425" y="323825"/>
            <a:ext cx="3673500" cy="15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" type="body"/>
          </p:nvPr>
        </p:nvSpPr>
        <p:spPr>
          <a:xfrm>
            <a:off x="5062087" y="1988175"/>
            <a:ext cx="3770100" cy="27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/>
          <p:nvPr>
            <p:ph type="title"/>
          </p:nvPr>
        </p:nvSpPr>
        <p:spPr>
          <a:xfrm>
            <a:off x="360000" y="323825"/>
            <a:ext cx="4143000" cy="15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" type="body"/>
          </p:nvPr>
        </p:nvSpPr>
        <p:spPr>
          <a:xfrm>
            <a:off x="652755" y="1988175"/>
            <a:ext cx="3850200" cy="27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283608" y="47007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p22"/>
          <p:cNvSpPr/>
          <p:nvPr/>
        </p:nvSpPr>
        <p:spPr>
          <a:xfrm>
            <a:off x="180000" y="193500"/>
            <a:ext cx="8784000" cy="4756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22"/>
          <p:cNvSpPr txBox="1"/>
          <p:nvPr>
            <p:ph type="title"/>
          </p:nvPr>
        </p:nvSpPr>
        <p:spPr>
          <a:xfrm>
            <a:off x="622450" y="357100"/>
            <a:ext cx="61116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SemiBold"/>
              <a:buNone/>
              <a:defRPr sz="28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" type="body"/>
          </p:nvPr>
        </p:nvSpPr>
        <p:spPr>
          <a:xfrm>
            <a:off x="634825" y="1045100"/>
            <a:ext cx="6111600" cy="24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 SemiBold"/>
              <a:buChar char="▶"/>
              <a:defRPr sz="14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342900" lvl="1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▸"/>
              <a:defRPr sz="12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921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Light"/>
              <a:buChar char="▹"/>
              <a:defRPr sz="10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857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Roboto Light"/>
              <a:buChar char="▸"/>
              <a:defRPr sz="900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794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Font typeface="Roboto Light"/>
              <a:buChar char="▹"/>
              <a:defRPr sz="800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730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Font typeface="Montserrat SemiBold"/>
              <a:buChar char="▸"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667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Font typeface="Roboto Light"/>
              <a:buChar char="▹"/>
              <a:defRPr sz="600"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2667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Font typeface="Roboto Light"/>
              <a:buChar char="▸"/>
              <a:defRPr sz="600"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2667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600"/>
              <a:buFont typeface="Roboto Light"/>
              <a:buChar char="▸"/>
              <a:defRPr sz="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895248" y="4944600"/>
            <a:ext cx="248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22"/>
          <p:cNvSpPr txBox="1"/>
          <p:nvPr/>
        </p:nvSpPr>
        <p:spPr>
          <a:xfrm>
            <a:off x="175400" y="4944600"/>
            <a:ext cx="88647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2018 © Алгоритмика</a:t>
            </a:r>
            <a:endParaRPr b="0" i="0" sz="8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4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3"/>
          <p:cNvSpPr txBox="1"/>
          <p:nvPr>
            <p:ph type="title"/>
          </p:nvPr>
        </p:nvSpPr>
        <p:spPr>
          <a:xfrm>
            <a:off x="360000" y="323825"/>
            <a:ext cx="4143000" cy="15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" type="body"/>
          </p:nvPr>
        </p:nvSpPr>
        <p:spPr>
          <a:xfrm>
            <a:off x="652755" y="1988175"/>
            <a:ext cx="3850200" cy="27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30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048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4pPr>
            <a:lvl5pPr indent="-298450" lvl="4" marL="2286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292100" lvl="5" marL="2743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  <a:defRPr/>
            </a:lvl6pPr>
            <a:lvl7pPr indent="-292100" lvl="6" marL="3200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  <a:defRPr/>
            </a:lvl7pPr>
            <a:lvl8pPr indent="-285750" lvl="7" marL="3657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/>
            </a:lvl8pPr>
            <a:lvl9pPr indent="-279400" lvl="8" marL="4114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2" type="sldNum"/>
          </p:nvPr>
        </p:nvSpPr>
        <p:spPr>
          <a:xfrm>
            <a:off x="8283608" y="47007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5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 txBox="1"/>
          <p:nvPr>
            <p:ph type="title"/>
          </p:nvPr>
        </p:nvSpPr>
        <p:spPr>
          <a:xfrm>
            <a:off x="360000" y="323825"/>
            <a:ext cx="4143000" cy="15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" type="body"/>
          </p:nvPr>
        </p:nvSpPr>
        <p:spPr>
          <a:xfrm>
            <a:off x="652755" y="1988175"/>
            <a:ext cx="3850200" cy="27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30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048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4pPr>
            <a:lvl5pPr indent="-298450" lvl="4" marL="2286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292100" lvl="5" marL="2743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  <a:defRPr/>
            </a:lvl6pPr>
            <a:lvl7pPr indent="-292100" lvl="6" marL="3200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•"/>
              <a:defRPr/>
            </a:lvl7pPr>
            <a:lvl8pPr indent="-285750" lvl="7" marL="3657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/>
            </a:lvl8pPr>
            <a:lvl9pPr indent="-279400" lvl="8" marL="4114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2" type="sldNum"/>
          </p:nvPr>
        </p:nvSpPr>
        <p:spPr>
          <a:xfrm>
            <a:off x="8283608" y="47007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6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5"/>
          <p:cNvSpPr txBox="1"/>
          <p:nvPr>
            <p:ph type="title"/>
          </p:nvPr>
        </p:nvSpPr>
        <p:spPr>
          <a:xfrm>
            <a:off x="360000" y="323825"/>
            <a:ext cx="4143000" cy="15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" type="body"/>
          </p:nvPr>
        </p:nvSpPr>
        <p:spPr>
          <a:xfrm>
            <a:off x="652755" y="1988175"/>
            <a:ext cx="3850200" cy="27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12" type="sldNum"/>
          </p:nvPr>
        </p:nvSpPr>
        <p:spPr>
          <a:xfrm>
            <a:off x="8283608" y="47007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7">
          <p15:clr>
            <a:schemeClr val="accent3"/>
          </p15:clr>
        </p15:guide>
        <p15:guide id="2" orient="horz" pos="227">
          <p15:clr>
            <a:schemeClr val="accent3"/>
          </p15:clr>
        </p15:guide>
        <p15:guide id="3" orient="horz" pos="3013">
          <p15:clr>
            <a:schemeClr val="accent3"/>
          </p15:clr>
        </p15:guide>
        <p15:guide id="4" pos="5533">
          <p15:clr>
            <a:schemeClr val="accent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jpg"/><Relationship Id="rId6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6"/>
          <p:cNvSpPr txBox="1"/>
          <p:nvPr/>
        </p:nvSpPr>
        <p:spPr>
          <a:xfrm>
            <a:off x="360000" y="1612700"/>
            <a:ext cx="77952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26"/>
          <p:cNvSpPr txBox="1"/>
          <p:nvPr/>
        </p:nvSpPr>
        <p:spPr>
          <a:xfrm>
            <a:off x="360000" y="2101750"/>
            <a:ext cx="8424000" cy="1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Презентация проекта </a:t>
            </a:r>
            <a:endParaRPr sz="41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93" name="Google Shape;9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988" y="360000"/>
            <a:ext cx="1496723" cy="31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27"/>
          <p:cNvGrpSpPr/>
          <p:nvPr/>
        </p:nvGrpSpPr>
        <p:grpSpPr>
          <a:xfrm>
            <a:off x="7814798" y="175164"/>
            <a:ext cx="1162236" cy="4798825"/>
            <a:chOff x="4572000" y="241250"/>
            <a:chExt cx="1263300" cy="4798825"/>
          </a:xfrm>
        </p:grpSpPr>
        <p:sp>
          <p:nvSpPr>
            <p:cNvPr id="99" name="Google Shape;99;p27"/>
            <p:cNvSpPr/>
            <p:nvPr/>
          </p:nvSpPr>
          <p:spPr>
            <a:xfrm>
              <a:off x="4572000" y="241250"/>
              <a:ext cx="1263300" cy="4583100"/>
            </a:xfrm>
            <a:prstGeom prst="roundRect">
              <a:avLst>
                <a:gd fmla="val 805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7"/>
            <p:cNvSpPr/>
            <p:nvPr/>
          </p:nvSpPr>
          <p:spPr>
            <a:xfrm>
              <a:off x="4684800" y="4700200"/>
              <a:ext cx="657275" cy="339875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27"/>
          <p:cNvSpPr txBox="1"/>
          <p:nvPr/>
        </p:nvSpPr>
        <p:spPr>
          <a:xfrm>
            <a:off x="341063" y="310638"/>
            <a:ext cx="7043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Цель проекта —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27"/>
          <p:cNvSpPr txBox="1"/>
          <p:nvPr/>
        </p:nvSpPr>
        <p:spPr>
          <a:xfrm rot="-5400000">
            <a:off x="6490250" y="2629625"/>
            <a:ext cx="32751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проекта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3" name="Google Shape;10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8050" y="1897201"/>
            <a:ext cx="211887" cy="2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7"/>
          <p:cNvSpPr/>
          <p:nvPr/>
        </p:nvSpPr>
        <p:spPr>
          <a:xfrm>
            <a:off x="8784000" y="22458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7"/>
          <p:cNvSpPr/>
          <p:nvPr/>
        </p:nvSpPr>
        <p:spPr>
          <a:xfrm>
            <a:off x="8784000" y="25618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7"/>
          <p:cNvSpPr/>
          <p:nvPr/>
        </p:nvSpPr>
        <p:spPr>
          <a:xfrm>
            <a:off x="8784000" y="28778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7"/>
          <p:cNvSpPr/>
          <p:nvPr/>
        </p:nvSpPr>
        <p:spPr>
          <a:xfrm>
            <a:off x="8784000" y="31938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7"/>
          <p:cNvSpPr/>
          <p:nvPr/>
        </p:nvSpPr>
        <p:spPr>
          <a:xfrm>
            <a:off x="8784000" y="35099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7"/>
          <p:cNvSpPr/>
          <p:nvPr/>
        </p:nvSpPr>
        <p:spPr>
          <a:xfrm>
            <a:off x="8784075" y="38259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7"/>
          <p:cNvSpPr/>
          <p:nvPr/>
        </p:nvSpPr>
        <p:spPr>
          <a:xfrm>
            <a:off x="8784075" y="41419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7"/>
          <p:cNvSpPr/>
          <p:nvPr/>
        </p:nvSpPr>
        <p:spPr>
          <a:xfrm>
            <a:off x="8784075" y="44579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4750" y="81699"/>
            <a:ext cx="1162225" cy="109991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265775" y="858725"/>
            <a:ext cx="7118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 SemiBold"/>
                <a:ea typeface="Montserrat SemiBold"/>
                <a:cs typeface="Montserrat SemiBold"/>
                <a:sym typeface="Montserrat SemiBold"/>
              </a:rPr>
              <a:t>Создание игры «Пинг-понг» с условиями победы и проигрыша</a:t>
            </a:r>
            <a:endParaRPr sz="17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28"/>
          <p:cNvGrpSpPr/>
          <p:nvPr/>
        </p:nvGrpSpPr>
        <p:grpSpPr>
          <a:xfrm>
            <a:off x="7814798" y="175164"/>
            <a:ext cx="1162236" cy="4798825"/>
            <a:chOff x="4572000" y="241250"/>
            <a:chExt cx="1263300" cy="4798825"/>
          </a:xfrm>
        </p:grpSpPr>
        <p:sp>
          <p:nvSpPr>
            <p:cNvPr id="119" name="Google Shape;119;p28"/>
            <p:cNvSpPr/>
            <p:nvPr/>
          </p:nvSpPr>
          <p:spPr>
            <a:xfrm>
              <a:off x="4572000" y="241250"/>
              <a:ext cx="1263300" cy="4583100"/>
            </a:xfrm>
            <a:prstGeom prst="roundRect">
              <a:avLst>
                <a:gd fmla="val 805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8"/>
            <p:cNvSpPr/>
            <p:nvPr/>
          </p:nvSpPr>
          <p:spPr>
            <a:xfrm>
              <a:off x="4684800" y="4700200"/>
              <a:ext cx="657275" cy="339875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28"/>
          <p:cNvSpPr txBox="1"/>
          <p:nvPr/>
        </p:nvSpPr>
        <p:spPr>
          <a:xfrm>
            <a:off x="341063" y="310638"/>
            <a:ext cx="7043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600">
                <a:latin typeface="Montserrat"/>
                <a:ea typeface="Montserrat"/>
                <a:cs typeface="Montserrat"/>
                <a:sym typeface="Montserrat"/>
              </a:rPr>
              <a:t>Разработанный проект включает в себя компоненты:</a:t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8"/>
          <p:cNvSpPr txBox="1"/>
          <p:nvPr/>
        </p:nvSpPr>
        <p:spPr>
          <a:xfrm rot="-5400000">
            <a:off x="6490250" y="2629625"/>
            <a:ext cx="32751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проекта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3" name="Google Shape;1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8050" y="1897201"/>
            <a:ext cx="211887" cy="2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8"/>
          <p:cNvSpPr/>
          <p:nvPr/>
        </p:nvSpPr>
        <p:spPr>
          <a:xfrm>
            <a:off x="8784000" y="22458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8"/>
          <p:cNvSpPr/>
          <p:nvPr/>
        </p:nvSpPr>
        <p:spPr>
          <a:xfrm>
            <a:off x="8784000" y="25618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8"/>
          <p:cNvSpPr/>
          <p:nvPr/>
        </p:nvSpPr>
        <p:spPr>
          <a:xfrm>
            <a:off x="8784000" y="28778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8"/>
          <p:cNvSpPr/>
          <p:nvPr/>
        </p:nvSpPr>
        <p:spPr>
          <a:xfrm>
            <a:off x="8784000" y="31938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8"/>
          <p:cNvSpPr/>
          <p:nvPr/>
        </p:nvSpPr>
        <p:spPr>
          <a:xfrm>
            <a:off x="8784000" y="35099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8"/>
          <p:cNvSpPr/>
          <p:nvPr/>
        </p:nvSpPr>
        <p:spPr>
          <a:xfrm>
            <a:off x="8784075" y="38259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8"/>
          <p:cNvSpPr/>
          <p:nvPr/>
        </p:nvSpPr>
        <p:spPr>
          <a:xfrm>
            <a:off x="8784075" y="41419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8"/>
          <p:cNvSpPr/>
          <p:nvPr/>
        </p:nvSpPr>
        <p:spPr>
          <a:xfrm>
            <a:off x="8784075" y="44579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4750" y="81699"/>
            <a:ext cx="1162225" cy="109991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8"/>
          <p:cNvSpPr txBox="1"/>
          <p:nvPr/>
        </p:nvSpPr>
        <p:spPr>
          <a:xfrm>
            <a:off x="265775" y="1307900"/>
            <a:ext cx="71187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➔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Базовый класс 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GameSprite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◆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Ядро проекта. Инкапсулирует общую логику для всех спрайтов (загрузка, масштабирование изображения, хранение координат, скорости и метода отрисовки 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reset()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◆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Использование наследования (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sprite.Sprite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 от PyGame делает работу со спрайтовыми группами в будущем более удобной.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➔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Класс 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Player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(наследник 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GameSprite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◆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Реализует управление двумя ракетками: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update_l()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Управление для левого игрока (клавиши W/S).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update_r()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Управление для правого игрока (клавиши ↑/↓).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◆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Логика ограничения движения (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self.rect.y &lt; 395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 предотвращает выход ракетки за границы экрана.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29"/>
          <p:cNvGrpSpPr/>
          <p:nvPr/>
        </p:nvGrpSpPr>
        <p:grpSpPr>
          <a:xfrm>
            <a:off x="7814798" y="175164"/>
            <a:ext cx="1162236" cy="4798825"/>
            <a:chOff x="4572000" y="241250"/>
            <a:chExt cx="1263300" cy="4798825"/>
          </a:xfrm>
        </p:grpSpPr>
        <p:sp>
          <p:nvSpPr>
            <p:cNvPr id="139" name="Google Shape;139;p29"/>
            <p:cNvSpPr/>
            <p:nvPr/>
          </p:nvSpPr>
          <p:spPr>
            <a:xfrm>
              <a:off x="4572000" y="241250"/>
              <a:ext cx="1263300" cy="4583100"/>
            </a:xfrm>
            <a:prstGeom prst="roundRect">
              <a:avLst>
                <a:gd fmla="val 805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9"/>
            <p:cNvSpPr/>
            <p:nvPr/>
          </p:nvSpPr>
          <p:spPr>
            <a:xfrm>
              <a:off x="4684800" y="4700200"/>
              <a:ext cx="657275" cy="339875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29"/>
          <p:cNvSpPr txBox="1"/>
          <p:nvPr/>
        </p:nvSpPr>
        <p:spPr>
          <a:xfrm>
            <a:off x="341063" y="310638"/>
            <a:ext cx="7043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9"/>
          <p:cNvSpPr txBox="1"/>
          <p:nvPr/>
        </p:nvSpPr>
        <p:spPr>
          <a:xfrm rot="-5400000">
            <a:off x="6490250" y="2629625"/>
            <a:ext cx="32751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проекта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3" name="Google Shape;14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8050" y="1897201"/>
            <a:ext cx="211887" cy="2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9"/>
          <p:cNvSpPr/>
          <p:nvPr/>
        </p:nvSpPr>
        <p:spPr>
          <a:xfrm>
            <a:off x="8784000" y="22458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9"/>
          <p:cNvSpPr/>
          <p:nvPr/>
        </p:nvSpPr>
        <p:spPr>
          <a:xfrm>
            <a:off x="8784000" y="25618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9"/>
          <p:cNvSpPr/>
          <p:nvPr/>
        </p:nvSpPr>
        <p:spPr>
          <a:xfrm>
            <a:off x="8784000" y="28778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9"/>
          <p:cNvSpPr/>
          <p:nvPr/>
        </p:nvSpPr>
        <p:spPr>
          <a:xfrm>
            <a:off x="8784000" y="31938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9"/>
          <p:cNvSpPr/>
          <p:nvPr/>
        </p:nvSpPr>
        <p:spPr>
          <a:xfrm>
            <a:off x="8784000" y="35099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9"/>
          <p:cNvSpPr/>
          <p:nvPr/>
        </p:nvSpPr>
        <p:spPr>
          <a:xfrm>
            <a:off x="8784075" y="38259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8784075" y="41419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9"/>
          <p:cNvSpPr/>
          <p:nvPr/>
        </p:nvSpPr>
        <p:spPr>
          <a:xfrm>
            <a:off x="8784075" y="44579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4750" y="81699"/>
            <a:ext cx="1162225" cy="109991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9"/>
          <p:cNvSpPr txBox="1"/>
          <p:nvPr/>
        </p:nvSpPr>
        <p:spPr>
          <a:xfrm>
            <a:off x="265775" y="1307900"/>
            <a:ext cx="7118700" cy="12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54" name="Google Shape;15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275" y="402500"/>
            <a:ext cx="4925275" cy="165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0925" y="2428800"/>
            <a:ext cx="3693388" cy="22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30"/>
          <p:cNvGrpSpPr/>
          <p:nvPr/>
        </p:nvGrpSpPr>
        <p:grpSpPr>
          <a:xfrm>
            <a:off x="7814798" y="175164"/>
            <a:ext cx="1162236" cy="4798825"/>
            <a:chOff x="4572000" y="241250"/>
            <a:chExt cx="1263300" cy="4798825"/>
          </a:xfrm>
        </p:grpSpPr>
        <p:sp>
          <p:nvSpPr>
            <p:cNvPr id="161" name="Google Shape;161;p30"/>
            <p:cNvSpPr/>
            <p:nvPr/>
          </p:nvSpPr>
          <p:spPr>
            <a:xfrm>
              <a:off x="4572000" y="241250"/>
              <a:ext cx="1263300" cy="4583100"/>
            </a:xfrm>
            <a:prstGeom prst="roundRect">
              <a:avLst>
                <a:gd fmla="val 805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0"/>
            <p:cNvSpPr/>
            <p:nvPr/>
          </p:nvSpPr>
          <p:spPr>
            <a:xfrm>
              <a:off x="4684800" y="4700200"/>
              <a:ext cx="657275" cy="339875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30"/>
          <p:cNvSpPr txBox="1"/>
          <p:nvPr/>
        </p:nvSpPr>
        <p:spPr>
          <a:xfrm>
            <a:off x="341063" y="310638"/>
            <a:ext cx="7043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600">
                <a:latin typeface="Montserrat"/>
                <a:ea typeface="Montserrat"/>
                <a:cs typeface="Montserrat"/>
                <a:sym typeface="Montserrat"/>
              </a:rPr>
              <a:t>Разработанный проект включает в себя компоненты:</a:t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30"/>
          <p:cNvSpPr txBox="1"/>
          <p:nvPr/>
        </p:nvSpPr>
        <p:spPr>
          <a:xfrm rot="-5400000">
            <a:off x="6490250" y="2629625"/>
            <a:ext cx="32751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проекта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5" name="Google Shape;1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8050" y="1897201"/>
            <a:ext cx="211887" cy="2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0"/>
          <p:cNvSpPr/>
          <p:nvPr/>
        </p:nvSpPr>
        <p:spPr>
          <a:xfrm>
            <a:off x="8784000" y="22458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0"/>
          <p:cNvSpPr/>
          <p:nvPr/>
        </p:nvSpPr>
        <p:spPr>
          <a:xfrm>
            <a:off x="8784000" y="25618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0"/>
          <p:cNvSpPr/>
          <p:nvPr/>
        </p:nvSpPr>
        <p:spPr>
          <a:xfrm>
            <a:off x="8784000" y="28778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0"/>
          <p:cNvSpPr/>
          <p:nvPr/>
        </p:nvSpPr>
        <p:spPr>
          <a:xfrm>
            <a:off x="8784000" y="31938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0"/>
          <p:cNvSpPr/>
          <p:nvPr/>
        </p:nvSpPr>
        <p:spPr>
          <a:xfrm>
            <a:off x="8784000" y="35099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0"/>
          <p:cNvSpPr/>
          <p:nvPr/>
        </p:nvSpPr>
        <p:spPr>
          <a:xfrm>
            <a:off x="8784075" y="38259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0"/>
          <p:cNvSpPr/>
          <p:nvPr/>
        </p:nvSpPr>
        <p:spPr>
          <a:xfrm>
            <a:off x="8784075" y="41419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0"/>
          <p:cNvSpPr/>
          <p:nvPr/>
        </p:nvSpPr>
        <p:spPr>
          <a:xfrm>
            <a:off x="8784075" y="44579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4750" y="81699"/>
            <a:ext cx="1162225" cy="109991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0"/>
          <p:cNvSpPr txBox="1"/>
          <p:nvPr/>
        </p:nvSpPr>
        <p:spPr>
          <a:xfrm>
            <a:off x="265775" y="1307900"/>
            <a:ext cx="7118700" cy="3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➔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Класс 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Ball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(наследник 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GameSprite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◆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Содержит собственную логику движения по осям X и Y (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speed_x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speed_y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◆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Логика отскока: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верхней и нижней границы (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self.rect.y &lt;= 0 or self.rect.y &gt;= 470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ракеток игроков (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sprite.collide_rect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◆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Логика счета: Метод 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update()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возвращает строку ("left"/"right"), указывающую, какой игрок пропустил мяч (мяч ушел за левую или правую границу)..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➔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Игровой цикл (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while game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◆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Корректно разделен на этапы обработки событий, обновления состояния (если игра не завершена 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finish = False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 и отрисовки.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◆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Ведется подсчет очков (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score1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score2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◆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Реализовано условие победы (первый, набравший 5 очков) и переход в состояние 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finish = True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с показом соответствующего сообщения.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31"/>
          <p:cNvGrpSpPr/>
          <p:nvPr/>
        </p:nvGrpSpPr>
        <p:grpSpPr>
          <a:xfrm>
            <a:off x="7814798" y="175164"/>
            <a:ext cx="1162236" cy="4798825"/>
            <a:chOff x="4572000" y="241250"/>
            <a:chExt cx="1263300" cy="4798825"/>
          </a:xfrm>
        </p:grpSpPr>
        <p:sp>
          <p:nvSpPr>
            <p:cNvPr id="181" name="Google Shape;181;p31"/>
            <p:cNvSpPr/>
            <p:nvPr/>
          </p:nvSpPr>
          <p:spPr>
            <a:xfrm>
              <a:off x="4572000" y="241250"/>
              <a:ext cx="1263300" cy="4583100"/>
            </a:xfrm>
            <a:prstGeom prst="roundRect">
              <a:avLst>
                <a:gd fmla="val 805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1"/>
            <p:cNvSpPr/>
            <p:nvPr/>
          </p:nvSpPr>
          <p:spPr>
            <a:xfrm>
              <a:off x="4684800" y="4700200"/>
              <a:ext cx="657275" cy="339875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31"/>
          <p:cNvSpPr txBox="1"/>
          <p:nvPr/>
        </p:nvSpPr>
        <p:spPr>
          <a:xfrm>
            <a:off x="341063" y="310638"/>
            <a:ext cx="7043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31"/>
          <p:cNvSpPr txBox="1"/>
          <p:nvPr/>
        </p:nvSpPr>
        <p:spPr>
          <a:xfrm rot="-5400000">
            <a:off x="6490250" y="2629625"/>
            <a:ext cx="32751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проекта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5" name="Google Shape;18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8050" y="1897201"/>
            <a:ext cx="211887" cy="2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1"/>
          <p:cNvSpPr/>
          <p:nvPr/>
        </p:nvSpPr>
        <p:spPr>
          <a:xfrm>
            <a:off x="8784000" y="22458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1"/>
          <p:cNvSpPr/>
          <p:nvPr/>
        </p:nvSpPr>
        <p:spPr>
          <a:xfrm>
            <a:off x="8784000" y="25618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1"/>
          <p:cNvSpPr/>
          <p:nvPr/>
        </p:nvSpPr>
        <p:spPr>
          <a:xfrm>
            <a:off x="8784000" y="28778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1"/>
          <p:cNvSpPr/>
          <p:nvPr/>
        </p:nvSpPr>
        <p:spPr>
          <a:xfrm>
            <a:off x="8784000" y="31938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1"/>
          <p:cNvSpPr/>
          <p:nvPr/>
        </p:nvSpPr>
        <p:spPr>
          <a:xfrm>
            <a:off x="8784000" y="35099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1"/>
          <p:cNvSpPr/>
          <p:nvPr/>
        </p:nvSpPr>
        <p:spPr>
          <a:xfrm>
            <a:off x="8784075" y="38259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1"/>
          <p:cNvSpPr/>
          <p:nvPr/>
        </p:nvSpPr>
        <p:spPr>
          <a:xfrm>
            <a:off x="8784075" y="41419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1"/>
          <p:cNvSpPr/>
          <p:nvPr/>
        </p:nvSpPr>
        <p:spPr>
          <a:xfrm>
            <a:off x="8784075" y="44579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4750" y="81699"/>
            <a:ext cx="1162225" cy="1099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1"/>
          <p:cNvSpPr txBox="1"/>
          <p:nvPr/>
        </p:nvSpPr>
        <p:spPr>
          <a:xfrm>
            <a:off x="265775" y="1307900"/>
            <a:ext cx="71187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96" name="Google Shape;19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625" y="417875"/>
            <a:ext cx="3382700" cy="226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2325" y="2897675"/>
            <a:ext cx="3533775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32"/>
          <p:cNvGrpSpPr/>
          <p:nvPr/>
        </p:nvGrpSpPr>
        <p:grpSpPr>
          <a:xfrm>
            <a:off x="7814798" y="175164"/>
            <a:ext cx="1162236" cy="4798825"/>
            <a:chOff x="4572000" y="241250"/>
            <a:chExt cx="1263300" cy="4798825"/>
          </a:xfrm>
        </p:grpSpPr>
        <p:sp>
          <p:nvSpPr>
            <p:cNvPr id="203" name="Google Shape;203;p32"/>
            <p:cNvSpPr/>
            <p:nvPr/>
          </p:nvSpPr>
          <p:spPr>
            <a:xfrm>
              <a:off x="4572000" y="241250"/>
              <a:ext cx="1263300" cy="4583100"/>
            </a:xfrm>
            <a:prstGeom prst="roundRect">
              <a:avLst>
                <a:gd fmla="val 805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2"/>
            <p:cNvSpPr/>
            <p:nvPr/>
          </p:nvSpPr>
          <p:spPr>
            <a:xfrm>
              <a:off x="4684800" y="4700200"/>
              <a:ext cx="657275" cy="339875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" name="Google Shape;205;p32"/>
          <p:cNvSpPr txBox="1"/>
          <p:nvPr/>
        </p:nvSpPr>
        <p:spPr>
          <a:xfrm>
            <a:off x="341075" y="310650"/>
            <a:ext cx="7317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600">
                <a:latin typeface="Montserrat"/>
                <a:ea typeface="Montserrat"/>
                <a:cs typeface="Montserrat"/>
                <a:sym typeface="Montserrat"/>
              </a:rPr>
              <a:t>Отличительные особенности проекта</a:t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2"/>
          <p:cNvSpPr txBox="1"/>
          <p:nvPr/>
        </p:nvSpPr>
        <p:spPr>
          <a:xfrm rot="-5400000">
            <a:off x="6490250" y="2629625"/>
            <a:ext cx="32751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проекта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7" name="Google Shape;20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8050" y="1897201"/>
            <a:ext cx="211887" cy="2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2"/>
          <p:cNvSpPr/>
          <p:nvPr/>
        </p:nvSpPr>
        <p:spPr>
          <a:xfrm>
            <a:off x="8784000" y="22458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2"/>
          <p:cNvSpPr/>
          <p:nvPr/>
        </p:nvSpPr>
        <p:spPr>
          <a:xfrm>
            <a:off x="8784000" y="25618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2"/>
          <p:cNvSpPr/>
          <p:nvPr/>
        </p:nvSpPr>
        <p:spPr>
          <a:xfrm>
            <a:off x="8784000" y="28778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2"/>
          <p:cNvSpPr/>
          <p:nvPr/>
        </p:nvSpPr>
        <p:spPr>
          <a:xfrm>
            <a:off x="8784000" y="31938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2"/>
          <p:cNvSpPr/>
          <p:nvPr/>
        </p:nvSpPr>
        <p:spPr>
          <a:xfrm>
            <a:off x="8784000" y="35099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2"/>
          <p:cNvSpPr/>
          <p:nvPr/>
        </p:nvSpPr>
        <p:spPr>
          <a:xfrm>
            <a:off x="8784075" y="38259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2"/>
          <p:cNvSpPr/>
          <p:nvPr/>
        </p:nvSpPr>
        <p:spPr>
          <a:xfrm>
            <a:off x="8784075" y="41419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2"/>
          <p:cNvSpPr/>
          <p:nvPr/>
        </p:nvSpPr>
        <p:spPr>
          <a:xfrm>
            <a:off x="8784075" y="44579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4750" y="81699"/>
            <a:ext cx="1162225" cy="109991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2"/>
          <p:cNvSpPr txBox="1"/>
          <p:nvPr/>
        </p:nvSpPr>
        <p:spPr>
          <a:xfrm>
            <a:off x="277050" y="823100"/>
            <a:ext cx="7118700" cy="24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Чистая объектно-ориентированная архитектура: Использование наследования (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GameSprite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→ 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Player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Ball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 делает код организованным, легко читаемым и расширяемым. Добавить новый тип спрайта (например, бонус) будет очень просто.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Корректная обработка столкновений и границ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Полный игровой процесс</a:t>
            </a:r>
            <a:endParaRPr sz="17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33"/>
          <p:cNvGrpSpPr/>
          <p:nvPr/>
        </p:nvGrpSpPr>
        <p:grpSpPr>
          <a:xfrm>
            <a:off x="7814798" y="175164"/>
            <a:ext cx="1162236" cy="4798825"/>
            <a:chOff x="4572000" y="241250"/>
            <a:chExt cx="1263300" cy="4798825"/>
          </a:xfrm>
        </p:grpSpPr>
        <p:sp>
          <p:nvSpPr>
            <p:cNvPr id="223" name="Google Shape;223;p33"/>
            <p:cNvSpPr/>
            <p:nvPr/>
          </p:nvSpPr>
          <p:spPr>
            <a:xfrm>
              <a:off x="4572000" y="241250"/>
              <a:ext cx="1263300" cy="4583100"/>
            </a:xfrm>
            <a:prstGeom prst="roundRect">
              <a:avLst>
                <a:gd fmla="val 805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3"/>
            <p:cNvSpPr/>
            <p:nvPr/>
          </p:nvSpPr>
          <p:spPr>
            <a:xfrm>
              <a:off x="4684800" y="4700200"/>
              <a:ext cx="657275" cy="339875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33"/>
          <p:cNvSpPr txBox="1"/>
          <p:nvPr/>
        </p:nvSpPr>
        <p:spPr>
          <a:xfrm>
            <a:off x="341075" y="310650"/>
            <a:ext cx="7317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600">
                <a:latin typeface="Montserrat"/>
                <a:ea typeface="Montserrat"/>
                <a:cs typeface="Montserrat"/>
                <a:sym typeface="Montserrat"/>
              </a:rPr>
              <a:t>Перспективы проекта</a:t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33"/>
          <p:cNvSpPr txBox="1"/>
          <p:nvPr/>
        </p:nvSpPr>
        <p:spPr>
          <a:xfrm rot="-5400000">
            <a:off x="6490250" y="2629625"/>
            <a:ext cx="32751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проекта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7" name="Google Shape;2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8050" y="1897201"/>
            <a:ext cx="211887" cy="2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/>
          <p:nvPr/>
        </p:nvSpPr>
        <p:spPr>
          <a:xfrm>
            <a:off x="8784000" y="22458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3"/>
          <p:cNvSpPr/>
          <p:nvPr/>
        </p:nvSpPr>
        <p:spPr>
          <a:xfrm>
            <a:off x="8784000" y="25618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3"/>
          <p:cNvSpPr/>
          <p:nvPr/>
        </p:nvSpPr>
        <p:spPr>
          <a:xfrm>
            <a:off x="8784000" y="28778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3"/>
          <p:cNvSpPr/>
          <p:nvPr/>
        </p:nvSpPr>
        <p:spPr>
          <a:xfrm>
            <a:off x="8784000" y="31938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3"/>
          <p:cNvSpPr/>
          <p:nvPr/>
        </p:nvSpPr>
        <p:spPr>
          <a:xfrm>
            <a:off x="8784000" y="35099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3"/>
          <p:cNvSpPr/>
          <p:nvPr/>
        </p:nvSpPr>
        <p:spPr>
          <a:xfrm>
            <a:off x="8784075" y="38259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3"/>
          <p:cNvSpPr/>
          <p:nvPr/>
        </p:nvSpPr>
        <p:spPr>
          <a:xfrm>
            <a:off x="8784075" y="41419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3"/>
          <p:cNvSpPr/>
          <p:nvPr/>
        </p:nvSpPr>
        <p:spPr>
          <a:xfrm>
            <a:off x="8784075" y="44579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4750" y="81699"/>
            <a:ext cx="1162225" cy="109991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3"/>
          <p:cNvSpPr txBox="1"/>
          <p:nvPr/>
        </p:nvSpPr>
        <p:spPr>
          <a:xfrm>
            <a:off x="277050" y="823100"/>
            <a:ext cx="7438200" cy="50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1. Геймплей и сложность: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Увеличение скорости мяча: С каждым ударом ракетки скорость мяча могла бы немного увеличиваться, делая игру напряженнее.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Бонусы/события: Выпадение случайных бонусов, которые могут: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Увеличить/уменьшить размер ракетки.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Замедлить/ускорить мяч.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Дать временное преимущество (например, "невидимость" мяча для противника на 3 секунды).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2. Пользовательский интерфейс (UI/UX):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Главное меню: Экран с кнопками "Начать игру", "Настройки", "Выход".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Экран паузы: Возможность поставить игру на паузу клавишей </a:t>
            </a:r>
            <a:r>
              <a:rPr lang="en" sz="105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ESC</a:t>
            </a: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Улучшенная графика: Более детализированные спрайты, фоновое изображение, анимации (например, при ударе ракетки).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Звуковое сопровождение: Звуки отскока мяча, счета очка, победы. Фоновая музыка.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34"/>
          <p:cNvGrpSpPr/>
          <p:nvPr/>
        </p:nvGrpSpPr>
        <p:grpSpPr>
          <a:xfrm>
            <a:off x="7814798" y="175164"/>
            <a:ext cx="1162236" cy="4798825"/>
            <a:chOff x="4572000" y="241250"/>
            <a:chExt cx="1263300" cy="4798825"/>
          </a:xfrm>
        </p:grpSpPr>
        <p:sp>
          <p:nvSpPr>
            <p:cNvPr id="243" name="Google Shape;243;p34"/>
            <p:cNvSpPr/>
            <p:nvPr/>
          </p:nvSpPr>
          <p:spPr>
            <a:xfrm>
              <a:off x="4572000" y="241250"/>
              <a:ext cx="1263300" cy="4583100"/>
            </a:xfrm>
            <a:prstGeom prst="roundRect">
              <a:avLst>
                <a:gd fmla="val 805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4684800" y="4700200"/>
              <a:ext cx="657275" cy="339875"/>
            </a:xfrm>
            <a:prstGeom prst="flowChartMerg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p34"/>
          <p:cNvSpPr txBox="1"/>
          <p:nvPr/>
        </p:nvSpPr>
        <p:spPr>
          <a:xfrm>
            <a:off x="341075" y="310650"/>
            <a:ext cx="7317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600">
                <a:latin typeface="Montserrat"/>
                <a:ea typeface="Montserrat"/>
                <a:cs typeface="Montserrat"/>
                <a:sym typeface="Montserrat"/>
              </a:rPr>
              <a:t>Благодарим за внимание</a:t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 rot="-5400000">
            <a:off x="6490250" y="2629625"/>
            <a:ext cx="32751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проекта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7" name="Google Shape;2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8050" y="1897201"/>
            <a:ext cx="211887" cy="2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4"/>
          <p:cNvSpPr/>
          <p:nvPr/>
        </p:nvSpPr>
        <p:spPr>
          <a:xfrm>
            <a:off x="8784000" y="22458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4"/>
          <p:cNvSpPr/>
          <p:nvPr/>
        </p:nvSpPr>
        <p:spPr>
          <a:xfrm>
            <a:off x="8784000" y="25618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4"/>
          <p:cNvSpPr/>
          <p:nvPr/>
        </p:nvSpPr>
        <p:spPr>
          <a:xfrm>
            <a:off x="8784000" y="28778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4"/>
          <p:cNvSpPr/>
          <p:nvPr/>
        </p:nvSpPr>
        <p:spPr>
          <a:xfrm>
            <a:off x="8784000" y="31938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4"/>
          <p:cNvSpPr/>
          <p:nvPr/>
        </p:nvSpPr>
        <p:spPr>
          <a:xfrm>
            <a:off x="8784000" y="350991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4"/>
          <p:cNvSpPr/>
          <p:nvPr/>
        </p:nvSpPr>
        <p:spPr>
          <a:xfrm>
            <a:off x="8784075" y="382593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4"/>
          <p:cNvSpPr/>
          <p:nvPr/>
        </p:nvSpPr>
        <p:spPr>
          <a:xfrm>
            <a:off x="8784075" y="4141963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4"/>
          <p:cNvSpPr/>
          <p:nvPr/>
        </p:nvSpPr>
        <p:spPr>
          <a:xfrm>
            <a:off x="8784075" y="4457988"/>
            <a:ext cx="192900" cy="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4750" y="81699"/>
            <a:ext cx="1162225" cy="109991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4"/>
          <p:cNvSpPr txBox="1"/>
          <p:nvPr/>
        </p:nvSpPr>
        <p:spPr>
          <a:xfrm>
            <a:off x="277050" y="823100"/>
            <a:ext cx="7438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Будем рады ответить на ваши вопросы и получить обратную связь</a:t>
            </a:r>
            <a:endParaRPr sz="1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58" name="Google Shape;258;p34"/>
          <p:cNvPicPr preferRelativeResize="0"/>
          <p:nvPr/>
        </p:nvPicPr>
        <p:blipFill rotWithShape="1">
          <a:blip r:embed="rId5">
            <a:alphaModFix/>
          </a:blip>
          <a:srcRect b="27413" l="0" r="55812" t="43854"/>
          <a:stretch/>
        </p:blipFill>
        <p:spPr>
          <a:xfrm>
            <a:off x="5155575" y="2426325"/>
            <a:ext cx="2401774" cy="2594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4"/>
          <p:cNvPicPr preferRelativeResize="0"/>
          <p:nvPr/>
        </p:nvPicPr>
        <p:blipFill rotWithShape="1">
          <a:blip r:embed="rId6">
            <a:alphaModFix/>
          </a:blip>
          <a:srcRect b="34141" l="0" r="63057" t="37537"/>
          <a:stretch/>
        </p:blipFill>
        <p:spPr>
          <a:xfrm>
            <a:off x="2679825" y="2426325"/>
            <a:ext cx="2475751" cy="2489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lgoritmika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833AE0"/>
      </a:accent1>
      <a:accent2>
        <a:srgbClr val="FF7842"/>
      </a:accent2>
      <a:accent3>
        <a:srgbClr val="88DBF2"/>
      </a:accent3>
      <a:accent4>
        <a:srgbClr val="38BD60"/>
      </a:accent4>
      <a:accent5>
        <a:srgbClr val="FA82CC"/>
      </a:accent5>
      <a:accent6>
        <a:srgbClr val="FFDC40"/>
      </a:accent6>
      <a:hlink>
        <a:srgbClr val="833AE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